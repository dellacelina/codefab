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y="6858000" cx="12192000"/>
  <p:notesSz cx="6858000" cy="9144000"/>
  <p:embeddedFontLst>
    <p:embeddedFont>
      <p:font typeface="Roboto Mono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438FC3-C0AE-413A-B48B-52F2E4018F06}">
  <a:tblStyle styleId="{F0438FC3-C0AE-413A-B48B-52F2E4018F0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font" Target="fonts/RobotoMono-regular.fntdata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RobotoMono-italic.fntdata"/><Relationship Id="rId10" Type="http://schemas.openxmlformats.org/officeDocument/2006/relationships/slide" Target="slides/slide5.xml"/><Relationship Id="rId54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56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471b0bb8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471b0bb8e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7d9e7fc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3" name="Google Shape;63;g3f7d9e7fc6c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471b0bb8e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모드 설명. 제약 짚고 넘어가야함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 - </a:t>
            </a:r>
            <a:r>
              <a:rPr lang="ko-KR"/>
              <a:t>프롬프트모드는 구분자 필요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 - 디버그모드는 소문자 입력 및 step 실행시 정의부에서도 멈춰서 실행 </a:t>
            </a:r>
            <a:endParaRPr/>
          </a:p>
        </p:txBody>
      </p:sp>
      <p:sp>
        <p:nvSpPr>
          <p:cNvPr id="68" name="Google Shape;68;g3f471b0bb8e_1_1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471b0bb8e_1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전체 내용 구현 완료</a:t>
            </a:r>
            <a:endParaRPr/>
          </a:p>
        </p:txBody>
      </p:sp>
      <p:sp>
        <p:nvSpPr>
          <p:cNvPr id="74" name="Google Shape;74;g3f471b0bb8e_1_20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7d9e7fc6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Interface</a:t>
            </a:r>
            <a:r>
              <a:rPr lang="ko-KR"/>
              <a:t>먼저 설계 후 구현. DIP 만족 (초록색 interface 먼저 설명)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Module간 In/Out 먼저 정의. TDD로 각자 병렬로 구현 (빨간선으로 data pipeline)</a:t>
            </a:r>
            <a:endParaRPr/>
          </a:p>
        </p:txBody>
      </p:sp>
      <p:sp>
        <p:nvSpPr>
          <p:cNvPr id="80" name="Google Shape;80;g3f7d9e7fc6c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471b0bb8e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f471b0bb8e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471b0bb8e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Code가 있는 String을 받아 Token으로 변환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알수 없는 문자 등 Token관련 Error throw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</a:rPr>
              <a:t>TokenType 선정의하여 Tokenizer 구현과 별개로 각자 TDD (TokenType 설명하면서)</a:t>
            </a:r>
            <a:endParaRPr/>
          </a:p>
        </p:txBody>
      </p:sp>
      <p:sp>
        <p:nvSpPr>
          <p:cNvPr id="93" name="Google Shape;93;g3f471b0bb8e_1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471b0bb8e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f471b0bb8e_1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471b0bb8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Token vector를 받아 Syntax tree를 생성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Import가 있을 경우 코드를 읽어서 Syntax tree에 추가 (SourceReaderInterface 설명, DIP 만족)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Syntax error가 있을 경우 throw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Syntax tree 선정의하여 Assembler 구현과 별개로 각자 TDD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Visitor 구현을 위한 SyntaxNodeVisitor</a:t>
            </a:r>
            <a:endParaRPr/>
          </a:p>
        </p:txBody>
      </p:sp>
      <p:sp>
        <p:nvSpPr>
          <p:cNvPr id="106" name="Google Shape;106;g3f471b0bb8e_1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471b0bb8e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f471b0bb8e_1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471b0bb8e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위에는 1일차 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아래는 3일차에 추가되었던 Statement</a:t>
            </a:r>
            <a:endParaRPr/>
          </a:p>
        </p:txBody>
      </p:sp>
      <p:sp>
        <p:nvSpPr>
          <p:cNvPr id="121" name="Google Shape;121;g3f471b0bb8e_1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471b0bb8e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위에는 1일차에 필요했던 Expression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아래는 3일차에 추가된 Expression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상위 abstract class를 기준으로 상속하는 구조였으므로 3일차에서도 상속class를 추가하기만하면 됐음</a:t>
            </a:r>
            <a:endParaRPr/>
          </a:p>
        </p:txBody>
      </p:sp>
      <p:sp>
        <p:nvSpPr>
          <p:cNvPr id="129" name="Google Shape;129;g3f471b0bb8e_1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471b0bb8e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본문 그대로 설명</a:t>
            </a:r>
            <a:endParaRPr/>
          </a:p>
        </p:txBody>
      </p:sp>
      <p:sp>
        <p:nvSpPr>
          <p:cNvPr id="137" name="Google Shape;137;g3f471b0bb8e_1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471b0bb8e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Optimizer</a:t>
            </a:r>
            <a:r>
              <a:rPr lang="ko-KR"/>
              <a:t>가 executor interface에 종속 (DIP)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Visitor 적용 설명</a:t>
            </a:r>
            <a:endParaRPr/>
          </a:p>
        </p:txBody>
      </p:sp>
      <p:sp>
        <p:nvSpPr>
          <p:cNvPr id="145" name="Google Shape;145;g3f471b0bb8e_1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471b0bb8e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g3f471b0bb8e_1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471b0bb8e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여러 Runtime으로 나뉜 것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Visitor 적용된 것</a:t>
            </a:r>
            <a:endParaRPr/>
          </a:p>
        </p:txBody>
      </p:sp>
      <p:sp>
        <p:nvSpPr>
          <p:cNvPr id="158" name="Google Shape;158;g3f471b0bb8e_1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471b0bb8e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저장소 </a:t>
            </a:r>
            <a:r>
              <a:rPr lang="ko-KR"/>
              <a:t>Scope</a:t>
            </a:r>
            <a:r>
              <a:rPr lang="ko-KR"/>
              <a:t>에 대한 부분 분리한 것에 대해 설명</a:t>
            </a:r>
            <a:endParaRPr/>
          </a:p>
        </p:txBody>
      </p:sp>
      <p:sp>
        <p:nvSpPr>
          <p:cNvPr id="164" name="Google Shape;164;g3f471b0bb8e_1_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471b0bb8e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본문 내용 대로 설명</a:t>
            </a:r>
            <a:endParaRPr/>
          </a:p>
        </p:txBody>
      </p:sp>
      <p:sp>
        <p:nvSpPr>
          <p:cNvPr id="170" name="Google Shape;170;g3f471b0bb8e_1_1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471b0bb8e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Overview</a:t>
            </a:r>
            <a:r>
              <a:rPr lang="ko-KR"/>
              <a:t>에서 봤던 Interface들에 의존 (DIP)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Interface들에만 의존하는 것을 보임</a:t>
            </a:r>
            <a:endParaRPr/>
          </a:p>
        </p:txBody>
      </p:sp>
      <p:sp>
        <p:nvSpPr>
          <p:cNvPr id="178" name="Google Shape;178;g3f471b0bb8e_1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471b0bb8e_1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본문 내용대로 설명</a:t>
            </a:r>
            <a:endParaRPr/>
          </a:p>
        </p:txBody>
      </p:sp>
      <p:sp>
        <p:nvSpPr>
          <p:cNvPr id="184" name="Google Shape;184;g3f471b0bb8e_1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471b0bb8e_1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Debug </a:t>
            </a:r>
            <a:r>
              <a:rPr lang="ko-KR"/>
              <a:t>구현을 위해 DebugMode는 Debugger를 사용하며, Debugger의 실행은 Executor의 statementHook에서 실행되는 것을 설명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Executor</a:t>
            </a:r>
            <a:r>
              <a:rPr lang="ko-KR"/>
              <a:t>의 StatementHook이 std::function으로 정의된 것을 설명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Debugger는 std::function에 맞는 임시객체를 통해 (lambda 설명?) executor에 등록되므로, Executor와 Debugger간 dependency는 없는 것을 설명</a:t>
            </a:r>
            <a:endParaRPr/>
          </a:p>
        </p:txBody>
      </p:sp>
      <p:sp>
        <p:nvSpPr>
          <p:cNvPr id="191" name="Google Shape;191;g3f471b0bb8e_1_1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471b0bb8e_1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본문 내용대로 설명</a:t>
            </a:r>
            <a:endParaRPr/>
          </a:p>
        </p:txBody>
      </p:sp>
      <p:sp>
        <p:nvSpPr>
          <p:cNvPr id="197" name="Google Shape;197;g3f471b0bb8e_1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7d9e7fc6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f7d9e7fc6c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7d9e7fc6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리뷰 활동에 대한 설명. 단순한 merge를 위한 comment가 아니라 실제 리뷰 활동을 통해 설계와 가독성을 개선해나갔음</a:t>
            </a:r>
            <a:endParaRPr/>
          </a:p>
        </p:txBody>
      </p:sp>
      <p:sp>
        <p:nvSpPr>
          <p:cNvPr id="209" name="Google Shape;209;g3f7d9e7fc6c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7df8a30d7_0_1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7df8a30d7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리뷰가 리팩토링으로 이어진 사례,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SRP 내용 설명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/>
              <a:t>Review 내용을 TODO로 먼저 기록해두었다가, 추후에 잊지 않고 Refactoring함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7d9e7fc6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기존의 구현은 RTTI (dynamic_cast)를 사용하는 방식으로 구현되어있었음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 방법은 type이 추가되어도 이에 대한 구현을 강제할 수 없고,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반복적인 if else가 쌓이는 문제를 야기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또한 RTTI 자체가 가지는 성능상에 단점이 있음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이를 Review를 통해 Visitor 패턴으로 바꾸자는 의견이 있었고, refactoring하여 적용함</a:t>
            </a:r>
            <a:endParaRPr/>
          </a:p>
        </p:txBody>
      </p:sp>
      <p:sp>
        <p:nvSpPr>
          <p:cNvPr id="224" name="Google Shape;224;g3f7d9e7fc6c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7d9e7fc6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Interface </a:t>
            </a:r>
            <a:r>
              <a:rPr lang="ko-KR"/>
              <a:t>설계와 test double을 통한 TDD는 구조 설명에서 많이 설명했음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이번에는 integration test와 coverage에 대해 말해보려고 한다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각 세부 모듈에 대한 unit test도 중요하지만, 전체 모듈간 상호 동작도 검증되어야할 부분이며, 따라서 integration test도 TDD의 적용이 필요하다고 본다.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따라서 여러명의 협업으로 모듈 개발과 병행하여 integration test를 함께 작성하였고, 이에 따른 bug 조기 발견을 할 수 있었다.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또한 unit test에서 생각하지 못했던 경우에 대해 test를 할 수 있었으며, 각 경우에 대해 지속적으로 모듈에 대한 unit test도 추가하여 검증 완성도를 높임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또한 지속적으로 TDD를 적용함에 따라 지속적으로 coverage가 95% 이상인 것을 확인할 수 있었으며, exception 이후의 brace 등의 경우를 제외하면 사실상 100%의 coverage 달성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추가 기능 적용 시점에는 구현부 선반영으로 coverage가 떨어지는 것을 볼 수 있으며, 결과적으로는 test를 지속적으로 추가하여 coverage를 다시 올렸으나,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TDD를 통한 구현이 프로그램 전반의 검증 완성도에 어떻게 영향을 미치는지, 또한 얼마나 중요한지 알 수 있었다.</a:t>
            </a:r>
            <a:endParaRPr/>
          </a:p>
        </p:txBody>
      </p:sp>
      <p:sp>
        <p:nvSpPr>
          <p:cNvPr id="230" name="Google Shape;230;g3f7d9e7fc6c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7d9e7fc6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Claude</a:t>
            </a:r>
            <a:r>
              <a:rPr lang="ko-KR"/>
              <a:t>를 통해 구현을 하더라도, 각각 설계된 모듈을 다시 합치는 과정에서 시간이 오래 걸림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ko-KR"/>
              <a:t>Claude를 활용해서 각 모듈간 interface와 구현 명세를 명확하게하고, 각 모듈의 기능은 각자 구현</a:t>
            </a:r>
            <a:endParaRPr/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ko-KR"/>
              <a:t>명세가 명확하기 때문에 개발 속도 향상 및, 모듈간 구현이 독립적으로 진행됨에 따라 conflict없이 seemless하게 병합해나갈 수 있었음을 보임</a:t>
            </a:r>
            <a:endParaRPr/>
          </a:p>
        </p:txBody>
      </p:sp>
      <p:sp>
        <p:nvSpPr>
          <p:cNvPr id="237" name="Google Shape;237;g3f7d9e7fc6c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7d9e7fc6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f7d9e7fc6c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f7ea8cbc62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g3f7ea8cbc62_2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7d9e7fc6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g3f7d9e7fc6c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7ea8cbc62_5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검증 목적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  1) import 문으로 다른 파일을 읽어 재귀적으로 컴파일하고, alias로 지정한 이름(mathlib)을 통해 그 파일의 함수(add/mul)와 전역 변수(version)에  모두 접근할 수 있는지 확인한다.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  2) mathlib.add(...)처럼 모듈 멤버가 함수 호출로도, mathlib.version처럼 값 읽기로도 문제없이 동작하는지 확인한다.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  3) 사용자가 정의한 함수(useModule) 내부에서도 import한 모듈(mathlib)을 참조해 호출할 수 있는지 확인한다.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g3f7ea8cbc62_5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7ea8cbc62_5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검증 목적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  1) 중첩된 블록에서 같은 이름(a)의 변수가 셰도잉되고, 안쪽 블록에서는 가장 가까운 스코프의 값을 읽으며, 전역 변수(ga)는 여러 단계를 거슬러 올라가도 정상적으로 조회되는지 확인한다.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  2) Func로 선언한 함수가 자기 자신을 재귀적으로 호출(fact)할 수 있는지, 그리고 return 값이 호출식의 평가 결과로 정확히 전달되는지 확인한다.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  3) for문 초기화절에 이미 선언된 변수(i)를 재사용하는 일반 대입 문법이 정상적으로 파싱/실행되는지 확인한다.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f7ea8cbc62_5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7ea8cbc62_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검증 목적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  1) SpeedRobot : Robot 으로 선언한 자식 클래스의 인스턴스를 생성할 때, 자식에 init이 없으므로 부모(Robot)의 init(name)이 그대로 호출되어 This.name이 초기화되는지 확인한다 (Executor::findMethod가 상속 체인을 따라 올라가며 메서드를 찾는 로직 검증).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  2) 자식 클래스가 move(dist)를 오버라이딩했을 때, 자식의 move가 호출되고 그 안에서 Super.move(dist)로 부모의 원본 move 구현을 호출할 수 있는지  확인한다. 이때 Super.move 내부의 This는 여전히 자식 인스턴스를 가리켜야 한다.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/>
              <a:t>  3) debug 명령들을 동작 시키면서 확인한다.</a:t>
            </a:r>
            <a:endParaRPr/>
          </a:p>
        </p:txBody>
      </p:sp>
      <p:sp>
        <p:nvSpPr>
          <p:cNvPr id="283" name="Google Shape;283;g3f7ea8cbc62_5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7ea8cbc62_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검증 목적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</a:rPr>
              <a:t>  - Array(3)으로 만든 배열의 유효 인덱스는 0~2인데, arr[3]으로 범위를 벗어난 인덱스에 접근했을 때 Executor.cpp::resolveArrayIndex의 "배열 인덱스 범위를 벗어났습니다." 오류가 발생해야 한다.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f7ea8cbc62_5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7ea8cbc62_5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검증 목적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  - add는 파라미터 2개(a, b)로 선언되었는데 호출 시 인자를 1개(add(1))만 전달했다. 이 검사는 Checker가 아니라 Executor의 런타임 오류로 처리되는 설계이므로(Architecture.md §3.2), "print "start";" 까지는 정상 출력된 뒤 함수 호출 시점에서 실행이 중단되어야 한다.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/>
              <a:t>  - 오류 발생 이후의 "var result = ..." 와 "print result;" 는 절대 실행되지 않아야 한다(파일 전체가 한 번의 파이프라인으로 실행되며, 예외 발생 시 즉시 중단하는 FileRunMode 동작을 확인).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7" name="Google Shape;307;g3f7ea8cbc62_5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471b0bb8e_1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g3f471b0bb8e_1_1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f7df8a30d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g3f7df8a30d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f7df8a30d7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7" name="Google Shape;327;g3f7df8a30d7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7df8a30d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3f7df8a30d7_0_5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7df8a30d7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f7df8a30d7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f7df8a30d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g3f7df8a30d7_0_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7df8a30d7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1" name="Google Shape;351;g3f7df8a30d7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7df8a30d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g3f7df8a30d7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471b0bb8e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g3f471b0bb8e_1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" type="body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b="0" sz="15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618827" y="321810"/>
            <a:ext cx="179427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ko-KR" sz="1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your value </a:t>
            </a:r>
            <a:endParaRPr b="1" i="0" sz="1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2"/>
          <p:cNvSpPr txBox="1"/>
          <p:nvPr>
            <p:ph idx="2" type="body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15" name="Google Shape;15;p2"/>
          <p:cNvGrpSpPr/>
          <p:nvPr/>
        </p:nvGrpSpPr>
        <p:grpSpPr>
          <a:xfrm>
            <a:off x="1107692" y="1513269"/>
            <a:ext cx="6785846" cy="3239999"/>
            <a:chOff x="900000" y="1513268"/>
            <a:chExt cx="5513500" cy="3239999"/>
          </a:xfrm>
        </p:grpSpPr>
        <p:grpSp>
          <p:nvGrpSpPr>
            <p:cNvPr id="16" name="Google Shape;16;p2"/>
            <p:cNvGrpSpPr/>
            <p:nvPr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5AB4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21" name="Google Shape;21;p2"/>
              <p:cNvGrpSpPr/>
              <p:nvPr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</p:grpSpPr>
            <p:sp>
              <p:nvSpPr>
                <p:cNvPr id="22" name="Google Shape;22;p2"/>
                <p:cNvSpPr/>
                <p:nvPr/>
              </p:nvSpPr>
              <p:spPr>
                <a:xfrm rot="-5400000">
                  <a:off x="2430000" y="-16731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" name="Google Shape;23;p2"/>
                <p:cNvSpPr/>
                <p:nvPr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24" name="Google Shape;24;p2"/>
              <p:cNvSpPr/>
              <p:nvPr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5" name="Google Shape;25;p2"/>
          <p:cNvSpPr txBox="1"/>
          <p:nvPr>
            <p:ph idx="3" type="body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b="1" sz="2000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4" type="body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b="0" sz="160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슬라이드">
  <p:cSld name="1_제목 슬라이드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idx="1" type="body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29" name="Google Shape;29;p3"/>
          <p:cNvGrpSpPr/>
          <p:nvPr/>
        </p:nvGrpSpPr>
        <p:grpSpPr>
          <a:xfrm>
            <a:off x="1107688" y="1500183"/>
            <a:ext cx="10145030" cy="3253087"/>
            <a:chOff x="899998" y="1500182"/>
            <a:chExt cx="5513502" cy="3253087"/>
          </a:xfrm>
        </p:grpSpPr>
        <p:sp>
          <p:nvSpPr>
            <p:cNvPr id="30" name="Google Shape;30;p3"/>
            <p:cNvSpPr/>
            <p:nvPr/>
          </p:nvSpPr>
          <p:spPr>
            <a:xfrm>
              <a:off x="899999" y="1513268"/>
              <a:ext cx="58695" cy="1080000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31" name="Google Shape;31;p3"/>
            <p:cNvGrpSpPr/>
            <p:nvPr/>
          </p:nvGrpSpPr>
          <p:grpSpPr>
            <a:xfrm>
              <a:off x="899998" y="1500182"/>
              <a:ext cx="5513502" cy="3253087"/>
              <a:chOff x="899998" y="1500182"/>
              <a:chExt cx="5513502" cy="3253087"/>
            </a:xfrm>
          </p:grpSpPr>
          <p:grpSp>
            <p:nvGrpSpPr>
              <p:cNvPr id="32" name="Google Shape;32;p3"/>
              <p:cNvGrpSpPr/>
              <p:nvPr/>
            </p:nvGrpSpPr>
            <p:grpSpPr>
              <a:xfrm>
                <a:off x="899998" y="1500182"/>
                <a:ext cx="5513502" cy="3253087"/>
                <a:chOff x="899999" y="1500182"/>
                <a:chExt cx="3240002" cy="3253087"/>
              </a:xfrm>
            </p:grpSpPr>
            <p:sp>
              <p:nvSpPr>
                <p:cNvPr id="33" name="Google Shape;33;p3"/>
                <p:cNvSpPr/>
                <p:nvPr/>
              </p:nvSpPr>
              <p:spPr>
                <a:xfrm rot="-5400000">
                  <a:off x="1880752" y="519429"/>
                  <a:ext cx="108000" cy="2069506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4" name="Google Shape;34;p3"/>
                <p:cNvSpPr/>
                <p:nvPr/>
              </p:nvSpPr>
              <p:spPr>
                <a:xfrm rot="5400000">
                  <a:off x="3051247" y="3664515"/>
                  <a:ext cx="108000" cy="2069507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35" name="Google Shape;35;p3"/>
              <p:cNvSpPr/>
              <p:nvPr/>
            </p:nvSpPr>
            <p:spPr>
              <a:xfrm rot="10800000">
                <a:off x="6354805" y="3673267"/>
                <a:ext cx="58695" cy="108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슬라이드">
  <p:cSld name="2_제목 슬라이드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/>
          <p:nvPr/>
        </p:nvSpPr>
        <p:spPr>
          <a:xfrm>
            <a:off x="373750" y="327899"/>
            <a:ext cx="232230" cy="635235"/>
          </a:xfrm>
          <a:prstGeom prst="rect">
            <a:avLst/>
          </a:prstGeom>
          <a:solidFill>
            <a:srgbClr val="005A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0" name="Google Shape;40;p4"/>
          <p:cNvCxnSpPr/>
          <p:nvPr/>
        </p:nvCxnSpPr>
        <p:spPr>
          <a:xfrm>
            <a:off x="720725" y="960002"/>
            <a:ext cx="11471275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41.xml"/><Relationship Id="rId4" Type="http://schemas.openxmlformats.org/officeDocument/2006/relationships/slide" Target="/ppt/slides/slide42.xml"/><Relationship Id="rId5" Type="http://schemas.openxmlformats.org/officeDocument/2006/relationships/slide" Target="/ppt/slides/slide43.xml"/><Relationship Id="rId6" Type="http://schemas.openxmlformats.org/officeDocument/2006/relationships/slide" Target="/ppt/slides/slide44.xml"/><Relationship Id="rId7" Type="http://schemas.openxmlformats.org/officeDocument/2006/relationships/slide" Target="/ppt/slides/slide45.xml"/><Relationship Id="rId8" Type="http://schemas.openxmlformats.org/officeDocument/2006/relationships/slide" Target="/ppt/slides/slide4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github.com/DellaCelina/CodeFab/pull/44/commits/b27e3b35a54377defbaa528939c4779dc4484475" TargetMode="External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9.png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hyperlink" Target="https://github.com/DellaCelina/CodeFab/commit/592e6c5" TargetMode="External"/><Relationship Id="rId10" Type="http://schemas.openxmlformats.org/officeDocument/2006/relationships/hyperlink" Target="https://github.com/DellaCelina/CodeFab/pull/59" TargetMode="External"/><Relationship Id="rId13" Type="http://schemas.openxmlformats.org/officeDocument/2006/relationships/image" Target="../media/image21.png"/><Relationship Id="rId12" Type="http://schemas.openxmlformats.org/officeDocument/2006/relationships/hyperlink" Target="https://github.com/DellaCelina/CodeFab/pull/62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DellaCelina/CodeFab/commit/81158f2" TargetMode="External"/><Relationship Id="rId4" Type="http://schemas.openxmlformats.org/officeDocument/2006/relationships/hyperlink" Target="https://github.com/DellaCelina/CodeFab/pull/42" TargetMode="External"/><Relationship Id="rId9" Type="http://schemas.openxmlformats.org/officeDocument/2006/relationships/hyperlink" Target="https://github.com/DellaCelina/CodeFab/commit/1b99999" TargetMode="External"/><Relationship Id="rId5" Type="http://schemas.openxmlformats.org/officeDocument/2006/relationships/hyperlink" Target="https://github.com/DellaCelina/CodeFab/commit/38dc726" TargetMode="External"/><Relationship Id="rId6" Type="http://schemas.openxmlformats.org/officeDocument/2006/relationships/hyperlink" Target="https://github.com/DellaCelina/CodeFab/commit/c41ab00" TargetMode="External"/><Relationship Id="rId7" Type="http://schemas.openxmlformats.org/officeDocument/2006/relationships/hyperlink" Target="https://github.com/DellaCelina/CodeFab/commit/3dee6bb" TargetMode="External"/><Relationship Id="rId8" Type="http://schemas.openxmlformats.org/officeDocument/2006/relationships/hyperlink" Target="https://github.com/DellaCelina/CodeFab/commit/828dd4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ithub.com/DellaCelina/CodeFab/pull/26/" TargetMode="External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20" Type="http://schemas.openxmlformats.org/officeDocument/2006/relationships/hyperlink" Target="https://github.com/DellaCelina/CodeFab/pull/45" TargetMode="External"/><Relationship Id="rId22" Type="http://schemas.openxmlformats.org/officeDocument/2006/relationships/hyperlink" Target="https://github.com/DellaCelina/CodeFab/pull/50" TargetMode="External"/><Relationship Id="rId21" Type="http://schemas.openxmlformats.org/officeDocument/2006/relationships/hyperlink" Target="https://github.com/DellaCelina/CodeFab/pull/50" TargetMode="External"/><Relationship Id="rId24" Type="http://schemas.openxmlformats.org/officeDocument/2006/relationships/hyperlink" Target="https://github.com/DellaCelina/CodeFab/pull/51" TargetMode="External"/><Relationship Id="rId23" Type="http://schemas.openxmlformats.org/officeDocument/2006/relationships/hyperlink" Target="https://github.com/DellaCelina/CodeFab/pull/51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github.com/DellaCelina/CodeFab/pull/4" TargetMode="External"/><Relationship Id="rId4" Type="http://schemas.openxmlformats.org/officeDocument/2006/relationships/hyperlink" Target="https://github.com/DellaCelina/CodeFab/pull/4" TargetMode="External"/><Relationship Id="rId9" Type="http://schemas.openxmlformats.org/officeDocument/2006/relationships/hyperlink" Target="https://github.com/DellaCelina/CodeFab/pull/8" TargetMode="External"/><Relationship Id="rId26" Type="http://schemas.openxmlformats.org/officeDocument/2006/relationships/hyperlink" Target="https://github.com/DellaCelina/CodeFab/pull/63" TargetMode="External"/><Relationship Id="rId25" Type="http://schemas.openxmlformats.org/officeDocument/2006/relationships/hyperlink" Target="https://github.com/DellaCelina/CodeFab/pull/63" TargetMode="External"/><Relationship Id="rId5" Type="http://schemas.openxmlformats.org/officeDocument/2006/relationships/hyperlink" Target="https://github.com/DellaCelina/CodeFab/pull/5" TargetMode="External"/><Relationship Id="rId6" Type="http://schemas.openxmlformats.org/officeDocument/2006/relationships/hyperlink" Target="https://github.com/DellaCelina/CodeFab/pull/5" TargetMode="External"/><Relationship Id="rId7" Type="http://schemas.openxmlformats.org/officeDocument/2006/relationships/hyperlink" Target="https://github.com/DellaCelina/CodeFab/pull/6" TargetMode="External"/><Relationship Id="rId8" Type="http://schemas.openxmlformats.org/officeDocument/2006/relationships/hyperlink" Target="https://github.com/DellaCelina/CodeFab/pull/6" TargetMode="External"/><Relationship Id="rId11" Type="http://schemas.openxmlformats.org/officeDocument/2006/relationships/hyperlink" Target="https://github.com/DellaCelina/CodeFab/pull/17" TargetMode="External"/><Relationship Id="rId10" Type="http://schemas.openxmlformats.org/officeDocument/2006/relationships/hyperlink" Target="https://github.com/DellaCelina/CodeFab/pull/8" TargetMode="External"/><Relationship Id="rId13" Type="http://schemas.openxmlformats.org/officeDocument/2006/relationships/hyperlink" Target="https://github.com/DellaCelina/CodeFab/pull/20" TargetMode="External"/><Relationship Id="rId12" Type="http://schemas.openxmlformats.org/officeDocument/2006/relationships/hyperlink" Target="https://github.com/DellaCelina/CodeFab/pull/17" TargetMode="External"/><Relationship Id="rId15" Type="http://schemas.openxmlformats.org/officeDocument/2006/relationships/hyperlink" Target="https://github.com/DellaCelina/CodeFab/pull/24" TargetMode="External"/><Relationship Id="rId14" Type="http://schemas.openxmlformats.org/officeDocument/2006/relationships/hyperlink" Target="https://github.com/DellaCelina/CodeFab/pull/20" TargetMode="External"/><Relationship Id="rId17" Type="http://schemas.openxmlformats.org/officeDocument/2006/relationships/hyperlink" Target="https://github.com/DellaCelina/CodeFab/pull/44" TargetMode="External"/><Relationship Id="rId16" Type="http://schemas.openxmlformats.org/officeDocument/2006/relationships/hyperlink" Target="https://github.com/DellaCelina/CodeFab/pull/24" TargetMode="External"/><Relationship Id="rId19" Type="http://schemas.openxmlformats.org/officeDocument/2006/relationships/hyperlink" Target="https://github.com/DellaCelina/CodeFab/pull/45" TargetMode="External"/><Relationship Id="rId18" Type="http://schemas.openxmlformats.org/officeDocument/2006/relationships/hyperlink" Target="https://github.com/DellaCelina/CodeFab/pull/44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ithub.com/DellaCelina/CodeFab/pull/4" TargetMode="External"/><Relationship Id="rId4" Type="http://schemas.openxmlformats.org/officeDocument/2006/relationships/hyperlink" Target="https://github.com/DellaCelina/CodeFab/pull/4" TargetMode="External"/><Relationship Id="rId9" Type="http://schemas.openxmlformats.org/officeDocument/2006/relationships/hyperlink" Target="https://github.com/DellaCelina/CodeFab/pull/17" TargetMode="External"/><Relationship Id="rId5" Type="http://schemas.openxmlformats.org/officeDocument/2006/relationships/hyperlink" Target="https://github.com/DellaCelina/CodeFab/pull/6" TargetMode="External"/><Relationship Id="rId6" Type="http://schemas.openxmlformats.org/officeDocument/2006/relationships/hyperlink" Target="https://github.com/DellaCelina/CodeFab/pull/6" TargetMode="External"/><Relationship Id="rId7" Type="http://schemas.openxmlformats.org/officeDocument/2006/relationships/hyperlink" Target="https://github.com/DellaCelina/CodeFab/pull/8" TargetMode="External"/><Relationship Id="rId8" Type="http://schemas.openxmlformats.org/officeDocument/2006/relationships/hyperlink" Target="https://github.com/DellaCelina/CodeFab/pull/8" TargetMode="External"/><Relationship Id="rId11" Type="http://schemas.openxmlformats.org/officeDocument/2006/relationships/hyperlink" Target="https://github.com/DellaCelina/CodeFab/pull/36" TargetMode="External"/><Relationship Id="rId10" Type="http://schemas.openxmlformats.org/officeDocument/2006/relationships/hyperlink" Target="https://github.com/DellaCelina/CodeFab/pull/17" TargetMode="External"/><Relationship Id="rId12" Type="http://schemas.openxmlformats.org/officeDocument/2006/relationships/hyperlink" Target="https://github.com/DellaCelina/CodeFab/pull/36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ithub.com/DellaCelina/CodeFab/pull/4" TargetMode="External"/><Relationship Id="rId4" Type="http://schemas.openxmlformats.org/officeDocument/2006/relationships/hyperlink" Target="https://github.com/DellaCelina/CodeFab/pull/4" TargetMode="External"/><Relationship Id="rId9" Type="http://schemas.openxmlformats.org/officeDocument/2006/relationships/hyperlink" Target="https://github.com/DellaCelina/CodeFab/pull/34" TargetMode="External"/><Relationship Id="rId5" Type="http://schemas.openxmlformats.org/officeDocument/2006/relationships/hyperlink" Target="https://github.com/DellaCelina/CodeFab/pull/6" TargetMode="External"/><Relationship Id="rId6" Type="http://schemas.openxmlformats.org/officeDocument/2006/relationships/hyperlink" Target="https://github.com/DellaCelina/CodeFab/pull/6" TargetMode="External"/><Relationship Id="rId7" Type="http://schemas.openxmlformats.org/officeDocument/2006/relationships/hyperlink" Target="https://github.com/DellaCelina/CodeFab/pull/28" TargetMode="External"/><Relationship Id="rId8" Type="http://schemas.openxmlformats.org/officeDocument/2006/relationships/hyperlink" Target="https://github.com/DellaCelina/CodeFab/pull/28" TargetMode="External"/><Relationship Id="rId11" Type="http://schemas.openxmlformats.org/officeDocument/2006/relationships/hyperlink" Target="https://github.com/DellaCelina/CodeFab/pull/44" TargetMode="External"/><Relationship Id="rId10" Type="http://schemas.openxmlformats.org/officeDocument/2006/relationships/hyperlink" Target="https://github.com/DellaCelina/CodeFab/pull/34" TargetMode="External"/><Relationship Id="rId13" Type="http://schemas.openxmlformats.org/officeDocument/2006/relationships/hyperlink" Target="https://github.com/DellaCelina/CodeFab/pull/47" TargetMode="External"/><Relationship Id="rId12" Type="http://schemas.openxmlformats.org/officeDocument/2006/relationships/hyperlink" Target="https://github.com/DellaCelina/CodeFab/pull/44" TargetMode="External"/><Relationship Id="rId15" Type="http://schemas.openxmlformats.org/officeDocument/2006/relationships/hyperlink" Target="https://github.com/DellaCelina/CodeFab/pull/59" TargetMode="External"/><Relationship Id="rId14" Type="http://schemas.openxmlformats.org/officeDocument/2006/relationships/hyperlink" Target="https://github.com/DellaCelina/CodeFab/pull/47" TargetMode="External"/><Relationship Id="rId16" Type="http://schemas.openxmlformats.org/officeDocument/2006/relationships/hyperlink" Target="https://github.com/DellaCelina/CodeFab/pull/59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ithub.com/DellaCelina/CodeFab/pull/4" TargetMode="External"/><Relationship Id="rId4" Type="http://schemas.openxmlformats.org/officeDocument/2006/relationships/hyperlink" Target="https://github.com/DellaCelina/CodeFab/pull/4" TargetMode="External"/><Relationship Id="rId9" Type="http://schemas.openxmlformats.org/officeDocument/2006/relationships/hyperlink" Target="https://github.com/DellaCelina/CodeFab/pull/17" TargetMode="External"/><Relationship Id="rId5" Type="http://schemas.openxmlformats.org/officeDocument/2006/relationships/hyperlink" Target="https://github.com/DellaCelina/CodeFab/pull/6" TargetMode="External"/><Relationship Id="rId6" Type="http://schemas.openxmlformats.org/officeDocument/2006/relationships/hyperlink" Target="https://github.com/DellaCelina/CodeFab/pull/6" TargetMode="External"/><Relationship Id="rId7" Type="http://schemas.openxmlformats.org/officeDocument/2006/relationships/hyperlink" Target="https://github.com/DellaCelina/CodeFab/pull/8" TargetMode="External"/><Relationship Id="rId8" Type="http://schemas.openxmlformats.org/officeDocument/2006/relationships/hyperlink" Target="https://github.com/DellaCelina/CodeFab/pull/8" TargetMode="External"/><Relationship Id="rId11" Type="http://schemas.openxmlformats.org/officeDocument/2006/relationships/hyperlink" Target="https://github.com/DellaCelina/CodeFab/pull/18" TargetMode="External"/><Relationship Id="rId10" Type="http://schemas.openxmlformats.org/officeDocument/2006/relationships/hyperlink" Target="https://github.com/DellaCelina/CodeFab/pull/17" TargetMode="External"/><Relationship Id="rId13" Type="http://schemas.openxmlformats.org/officeDocument/2006/relationships/hyperlink" Target="https://github.com/DellaCelina/CodeFab/pull/33" TargetMode="External"/><Relationship Id="rId12" Type="http://schemas.openxmlformats.org/officeDocument/2006/relationships/hyperlink" Target="https://github.com/DellaCelina/CodeFab/pull/18" TargetMode="External"/><Relationship Id="rId15" Type="http://schemas.openxmlformats.org/officeDocument/2006/relationships/hyperlink" Target="https://github.com/DellaCelina/CodeFab/pull/54" TargetMode="External"/><Relationship Id="rId14" Type="http://schemas.openxmlformats.org/officeDocument/2006/relationships/hyperlink" Target="https://github.com/DellaCelina/CodeFab/pull/33" TargetMode="External"/><Relationship Id="rId16" Type="http://schemas.openxmlformats.org/officeDocument/2006/relationships/hyperlink" Target="https://github.com/DellaCelina/CodeFab/pull/54" TargetMode="Externa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github.com/DellaCelina/CodeFab/pull/8" TargetMode="External"/><Relationship Id="rId4" Type="http://schemas.openxmlformats.org/officeDocument/2006/relationships/hyperlink" Target="https://github.com/DellaCelina/CodeFab/pull/8" TargetMode="External"/><Relationship Id="rId9" Type="http://schemas.openxmlformats.org/officeDocument/2006/relationships/hyperlink" Target="https://github.com/DellaCelina/CodeFab/pull/59" TargetMode="External"/><Relationship Id="rId5" Type="http://schemas.openxmlformats.org/officeDocument/2006/relationships/hyperlink" Target="https://github.com/DellaCelina/CodeFab/pull/10" TargetMode="External"/><Relationship Id="rId6" Type="http://schemas.openxmlformats.org/officeDocument/2006/relationships/hyperlink" Target="https://github.com/DellaCelina/CodeFab/pull/10" TargetMode="External"/><Relationship Id="rId7" Type="http://schemas.openxmlformats.org/officeDocument/2006/relationships/hyperlink" Target="https://github.com/DellaCelina/CodeFab/pull/36" TargetMode="External"/><Relationship Id="rId8" Type="http://schemas.openxmlformats.org/officeDocument/2006/relationships/hyperlink" Target="https://github.com/DellaCelina/CodeFab/pull/36" TargetMode="External"/><Relationship Id="rId10" Type="http://schemas.openxmlformats.org/officeDocument/2006/relationships/hyperlink" Target="https://github.com/DellaCelina/CodeFab/pull/59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github.com/DellaCelina/CodeFab/pull/15" TargetMode="External"/><Relationship Id="rId4" Type="http://schemas.openxmlformats.org/officeDocument/2006/relationships/hyperlink" Target="https://github.com/DellaCelina/CodeFab/pull/15" TargetMode="External"/><Relationship Id="rId9" Type="http://schemas.openxmlformats.org/officeDocument/2006/relationships/hyperlink" Target="https://github.com/DellaCelina/CodeFab/pull/34" TargetMode="External"/><Relationship Id="rId5" Type="http://schemas.openxmlformats.org/officeDocument/2006/relationships/hyperlink" Target="https://github.com/DellaCelina/CodeFab/pull/17" TargetMode="External"/><Relationship Id="rId6" Type="http://schemas.openxmlformats.org/officeDocument/2006/relationships/hyperlink" Target="https://github.com/DellaCelina/CodeFab/pull/17" TargetMode="External"/><Relationship Id="rId7" Type="http://schemas.openxmlformats.org/officeDocument/2006/relationships/hyperlink" Target="https://github.com/DellaCelina/CodeFab/pull/31" TargetMode="External"/><Relationship Id="rId8" Type="http://schemas.openxmlformats.org/officeDocument/2006/relationships/hyperlink" Target="https://github.com/DellaCelina/CodeFab/pull/31" TargetMode="External"/><Relationship Id="rId11" Type="http://schemas.openxmlformats.org/officeDocument/2006/relationships/hyperlink" Target="https://github.com/DellaCelina/CodeFab/pull/49" TargetMode="External"/><Relationship Id="rId10" Type="http://schemas.openxmlformats.org/officeDocument/2006/relationships/hyperlink" Target="https://github.com/DellaCelina/CodeFab/pull/34" TargetMode="External"/><Relationship Id="rId12" Type="http://schemas.openxmlformats.org/officeDocument/2006/relationships/hyperlink" Target="https://github.com/DellaCelina/CodeFab/pull/49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github.com/DellaCelina/CodeFab/blob/master/CodeFab/architecture.drawi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body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 lnSpcReduction="1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</a:pPr>
            <a:r>
              <a:rPr b="1" lang="ko-KR"/>
              <a:t>CodeFab 프로젝트</a:t>
            </a:r>
            <a:endParaRPr b="1"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</a:pPr>
            <a:r>
              <a:rPr lang="ko-KR"/>
              <a:t>Custom Language Interpreter 및 REPL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</a:pPr>
            <a:r>
              <a:t/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</a:pPr>
            <a:r>
              <a:rPr lang="ko-KR"/>
              <a:t>참여 : 안덕현, 황정수, 서덕찬, 최민지, 강민구</a:t>
            </a:r>
            <a:endParaRPr/>
          </a:p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Commit Guard (3</a:t>
            </a:r>
            <a:r>
              <a:rPr lang="ko-KR"/>
              <a:t>조</a:t>
            </a:r>
            <a:r>
              <a:rPr lang="ko-KR"/>
              <a:t>)</a:t>
            </a:r>
            <a:endParaRPr/>
          </a:p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ko-KR"/>
              <a:t>CRA</a:t>
            </a:r>
            <a:r>
              <a:rPr lang="ko-KR"/>
              <a:t>과정 프로젝트</a:t>
            </a:r>
            <a:endParaRPr/>
          </a:p>
        </p:txBody>
      </p:sp>
      <p:sp>
        <p:nvSpPr>
          <p:cNvPr id="49" name="Google Shape;49;p6"/>
          <p:cNvSpPr txBox="1"/>
          <p:nvPr>
            <p:ph idx="4" type="body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</a:pPr>
            <a:r>
              <a:rPr lang="ko-KR"/>
              <a:t>2026.07.10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/>
          <p:nvPr>
            <p:ph idx="1" type="body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조</a:t>
            </a:r>
            <a:r>
              <a:rPr lang="ko-KR"/>
              <a:t>원 소개 및 역할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조원 소개 및 역할</a:t>
            </a:r>
            <a:endParaRPr/>
          </a:p>
        </p:txBody>
      </p:sp>
      <p:pic>
        <p:nvPicPr>
          <p:cNvPr id="60" name="Google Shape;60;p8" title="제목 없음.png"/>
          <p:cNvPicPr preferRelativeResize="0"/>
          <p:nvPr/>
        </p:nvPicPr>
        <p:blipFill rotWithShape="1">
          <a:blip r:embed="rId3">
            <a:alphaModFix/>
          </a:blip>
          <a:srcRect b="4630" l="0" r="0" t="4046"/>
          <a:stretch/>
        </p:blipFill>
        <p:spPr>
          <a:xfrm>
            <a:off x="414713" y="1021575"/>
            <a:ext cx="11362575" cy="583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구조 및 구현 소개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사용 방법과 제약사항</a:t>
            </a:r>
            <a:endParaRPr/>
          </a:p>
        </p:txBody>
      </p:sp>
      <p:pic>
        <p:nvPicPr>
          <p:cNvPr id="71" name="Google Shape;7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963" y="1112343"/>
            <a:ext cx="10899868" cy="5593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추가 기능 구현 현황</a:t>
            </a:r>
            <a:endParaRPr/>
          </a:p>
        </p:txBody>
      </p:sp>
      <p:pic>
        <p:nvPicPr>
          <p:cNvPr id="77" name="Google Shape;7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825" y="1160793"/>
            <a:ext cx="10133909" cy="5593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Architecture Overview</a:t>
            </a:r>
            <a:endParaRPr/>
          </a:p>
        </p:txBody>
      </p:sp>
      <p:pic>
        <p:nvPicPr>
          <p:cNvPr id="83" name="Google Shape;8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763" y="1122650"/>
            <a:ext cx="9154032" cy="5735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Architecture Overview</a:t>
            </a:r>
            <a:endParaRPr/>
          </a:p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226000" y="1251800"/>
            <a:ext cx="7203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Data Pipeline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Interface간 In/Out 선 정의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각 Module은 TDD로 구현</a:t>
            </a:r>
            <a:br>
              <a:rPr lang="ko-KR" sz="2000"/>
            </a:b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DIP 적용</a:t>
            </a:r>
            <a:endParaRPr sz="2000"/>
          </a:p>
          <a:p>
            <a:pPr indent="-355600" lvl="1" marL="914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각 모듈은 concreate class가 아닌 Interface에 의존</a:t>
            </a:r>
            <a:endParaRPr sz="2000"/>
          </a:p>
        </p:txBody>
      </p:sp>
      <p:pic>
        <p:nvPicPr>
          <p:cNvPr id="90" name="Google Shape;9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3450" y="1994863"/>
            <a:ext cx="4577975" cy="2868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Tokenizer</a:t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6625" y="1058075"/>
            <a:ext cx="6454299" cy="5703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Tokenizer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0" y="1439000"/>
            <a:ext cx="73812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ko-KR" sz="1900"/>
              <a:t>Code가 	있는 String을 받아 Token으로 변환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ko-KR" sz="1900"/>
              <a:t>알수 없는 문자 등 Token관련 Error throw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ko-KR" sz="1900"/>
              <a:t>TokenType 선정의</a:t>
            </a:r>
            <a:r>
              <a:rPr lang="ko-KR" sz="1900"/>
              <a:t>하여 Tokenizer 구현과 별개로 각자 TDD</a:t>
            </a:r>
            <a:endParaRPr sz="1900"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7224" y="1653150"/>
            <a:ext cx="4786875" cy="422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Assembler</a:t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950" y="1181393"/>
            <a:ext cx="59817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0650" y="2201975"/>
            <a:ext cx="5680526" cy="3102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Assembler</a:t>
            </a:r>
            <a:endParaRPr/>
          </a:p>
        </p:txBody>
      </p:sp>
      <p:sp>
        <p:nvSpPr>
          <p:cNvPr id="116" name="Google Shape;116;p17"/>
          <p:cNvSpPr txBox="1"/>
          <p:nvPr>
            <p:ph idx="1" type="body"/>
          </p:nvPr>
        </p:nvSpPr>
        <p:spPr>
          <a:xfrm>
            <a:off x="0" y="1352750"/>
            <a:ext cx="112557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Token vector를 받아 Syntax tree를 생성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Import가 있을 경우 코드를 읽어서 Syntax tree에 추가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Syntax error가 있을 경우 throw</a:t>
            </a:r>
            <a:endParaRPr sz="2000"/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ko-KR" sz="2000"/>
              <a:t>Syntax tree </a:t>
            </a:r>
            <a:r>
              <a:rPr lang="ko-KR" sz="2000"/>
              <a:t>선정의하여 Assembler 구현과 별개로 각자 TDD</a:t>
            </a:r>
            <a:endParaRPr sz="2000"/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375" y="3326476"/>
            <a:ext cx="3994403" cy="343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9200" y="3423325"/>
            <a:ext cx="5231735" cy="28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Assembler</a:t>
            </a:r>
            <a:endParaRPr/>
          </a:p>
        </p:txBody>
      </p:sp>
      <p:pic>
        <p:nvPicPr>
          <p:cNvPr id="124" name="Google Shape;12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4199" y="1176924"/>
            <a:ext cx="6226521" cy="5681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9318375" y="1959875"/>
            <a:ext cx="227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1일차</a:t>
            </a:r>
            <a:endParaRPr sz="2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9470775" y="5324925"/>
            <a:ext cx="227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r>
              <a:rPr lang="ko-KR" sz="2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일차</a:t>
            </a:r>
            <a:endParaRPr sz="2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Assembler</a:t>
            </a:r>
            <a:endParaRPr/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325" y="1160793"/>
            <a:ext cx="10720410" cy="559325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 txBox="1"/>
          <p:nvPr/>
        </p:nvSpPr>
        <p:spPr>
          <a:xfrm>
            <a:off x="9705850" y="2960800"/>
            <a:ext cx="227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1일차</a:t>
            </a:r>
            <a:endParaRPr sz="2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9705850" y="5680075"/>
            <a:ext cx="227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6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3일차</a:t>
            </a:r>
            <a:endParaRPr sz="2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Assembler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0" y="1352750"/>
            <a:ext cx="120144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Interpreter 패턴과 같이 Tree 구조 생성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Evaluation logic 분리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일반적인 Interpreter 패턴의 경우 각 node가 evaluation 구현 logic을 포함하여, SRP 위반 가능성이 있음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Visiter pattern 적용으로 evaluation logic은 executor로 분리</a:t>
            </a:r>
            <a:endParaRPr sz="18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41" name="Google Shape;14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6099" y="3569325"/>
            <a:ext cx="5289990" cy="27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7475" y="3318750"/>
            <a:ext cx="3574275" cy="326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Checker &amp; Optimizer</a:t>
            </a:r>
            <a:endParaRPr/>
          </a:p>
        </p:txBody>
      </p:sp>
      <p:pic>
        <p:nvPicPr>
          <p:cNvPr id="148" name="Google Shape;1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913" y="1112343"/>
            <a:ext cx="11154181" cy="559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Checker &amp; Optimizer</a:t>
            </a:r>
            <a:endParaRPr/>
          </a:p>
        </p:txBody>
      </p:sp>
      <p:sp>
        <p:nvSpPr>
          <p:cNvPr id="154" name="Google Shape;154;p22"/>
          <p:cNvSpPr txBox="1"/>
          <p:nvPr>
            <p:ph idx="1" type="body"/>
          </p:nvPr>
        </p:nvSpPr>
        <p:spPr>
          <a:xfrm>
            <a:off x="0" y="1352750"/>
            <a:ext cx="83013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Checker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SyntaxTree의 Sementic error check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Optimizer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Syntax Tree의 최적화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Expression evaluation을 위해 ExecutorInterface를 사용</a:t>
            </a:r>
            <a:endParaRPr sz="1800"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Unit test는 Mock 활용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SRP 만족을 위해 오류 체크와 최적화를 별도 모듈로 분리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SyntaxTree의 Node별 동작은 visitor 패턴을 사용하여 구현</a:t>
            </a:r>
            <a:endParaRPr sz="1800"/>
          </a:p>
        </p:txBody>
      </p:sp>
      <p:pic>
        <p:nvPicPr>
          <p:cNvPr id="155" name="Google Shape;15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3500" y="2134538"/>
            <a:ext cx="5162849" cy="2588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Executor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6050" y="1176918"/>
            <a:ext cx="8975445" cy="5593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4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Executor</a:t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6663" y="1214200"/>
            <a:ext cx="10698674" cy="530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Executor</a:t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0" y="1352750"/>
            <a:ext cx="83013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Syntax tree의 Statement</a:t>
            </a:r>
            <a:r>
              <a:rPr lang="ko-KR" sz="1800"/>
              <a:t> 실행</a:t>
            </a:r>
            <a:r>
              <a:rPr lang="ko-KR" sz="1800"/>
              <a:t> 및 Expression evaluation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Class, Array, Module 별로 Runtime을 분리하여 응집도 높임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저장소 기능은 Environment class로 분리하여 구현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Node별 실행은 Visitor pattern을 적용</a:t>
            </a:r>
            <a:endParaRPr sz="1800"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6376" y="3318750"/>
            <a:ext cx="4173278" cy="260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6025" y="3318750"/>
            <a:ext cx="4929300" cy="244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Shell</a:t>
            </a:r>
            <a:endParaRPr/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2850" y="1285652"/>
            <a:ext cx="10226301" cy="501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Shell</a:t>
            </a:r>
            <a:endParaRPr/>
          </a:p>
        </p:txBody>
      </p:sp>
      <p:sp>
        <p:nvSpPr>
          <p:cNvPr id="187" name="Google Shape;187;p27"/>
          <p:cNvSpPr txBox="1"/>
          <p:nvPr>
            <p:ph idx="1" type="body"/>
          </p:nvPr>
        </p:nvSpPr>
        <p:spPr>
          <a:xfrm>
            <a:off x="0" y="1352750"/>
            <a:ext cx="83013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User interface 담당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Tokenizer, Assembler, Checker, Optimizer 및 Executor를 실행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Interpreter/File/Debug mode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Module의 interface에 대해 DI로 받아 실행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Shell의 Test는 Mock을 활용하여 TDD</a:t>
            </a:r>
            <a:endParaRPr sz="1800"/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7525" y="3073825"/>
            <a:ext cx="6537094" cy="3206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Shell - Debugger</a:t>
            </a:r>
            <a:endParaRPr/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9488" y="1273768"/>
            <a:ext cx="7648575" cy="541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Shell - Debugger</a:t>
            </a:r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0" y="1352750"/>
            <a:ext cx="124986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Debugger의 실행은 std::function을 통해 executor의 hook으로 등록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Command pattern</a:t>
            </a:r>
            <a:endParaRPr sz="1800"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std::function은 operator()을 가지는 interface</a:t>
            </a:r>
            <a:endParaRPr sz="1800"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Executor에서 필요한 시점에 std::function을 통해 hook을 실행</a:t>
            </a:r>
            <a:endParaRPr sz="1800"/>
          </a:p>
          <a:p>
            <a:pPr indent="-3429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Observer pattern</a:t>
            </a:r>
            <a:endParaRPr sz="1800"/>
          </a:p>
          <a:p>
            <a: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ko-KR" sz="1800"/>
              <a:t>필요 시점에 hook을 통해 observer(debugger)에게 notify</a:t>
            </a:r>
            <a:endParaRPr sz="1800"/>
          </a:p>
        </p:txBody>
      </p:sp>
      <p:pic>
        <p:nvPicPr>
          <p:cNvPr id="201" name="Google Shape;2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0725" y="4042475"/>
            <a:ext cx="3027099" cy="21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Best Practice </a:t>
            </a:r>
            <a:r>
              <a:rPr lang="ko-KR"/>
              <a:t>사례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Code Review BP 사례 #1 Review 활동</a:t>
            </a:r>
            <a:endParaRPr/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556800" y="1316375"/>
            <a:ext cx="11078400" cy="53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1425" spcFirstLastPara="1" rIns="91425" wrap="square" tIns="46800">
            <a:normAutofit fontScale="92500" lnSpcReduction="20000"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rPr b="1" lang="ko-KR" sz="2000" u="sng"/>
              <a:t>Commit Gaurd </a:t>
            </a:r>
            <a:r>
              <a:rPr b="1" lang="ko-KR" sz="2000" u="sng"/>
              <a:t>팀의 Review는 단순 승인 과정이 아니라 설계·버그·테스트 품질향상 활동이었다.</a:t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3599" lvl="0" marL="180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b="1" sz="2000" u="sng"/>
          </a:p>
          <a:p>
            <a:pPr indent="-3599" lvl="0" marL="18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t/>
            </a:r>
            <a:endParaRPr sz="2000"/>
          </a:p>
          <a:p>
            <a:pPr indent="-3599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40000"/>
              <a:buNone/>
            </a:pPr>
            <a:r>
              <a:rPr lang="ko-KR" sz="2000"/>
              <a:t>87개의 Review Comment 중 66건(76%)이 실제 코드 품질 개선을 위한 기술적 리뷰였으며, 단순 확인·응답성 댓글은 제외하여 분석하였습니다.</a:t>
            </a:r>
            <a:endParaRPr sz="2000"/>
          </a:p>
        </p:txBody>
      </p:sp>
      <p:graphicFrame>
        <p:nvGraphicFramePr>
          <p:cNvPr id="213" name="Google Shape;213;p31"/>
          <p:cNvGraphicFramePr/>
          <p:nvPr/>
        </p:nvGraphicFramePr>
        <p:xfrm>
          <a:off x="836575" y="17763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{F0438FC3-C0AE-413A-B48B-52F2E4018F06}</a:tableStyleId>
              </a:tblPr>
              <a:tblGrid>
                <a:gridCol w="1844875"/>
                <a:gridCol w="927700"/>
                <a:gridCol w="4896650"/>
                <a:gridCol w="2940600"/>
              </a:tblGrid>
              <a:tr h="3891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구분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리뷰 수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대표 내용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참조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50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🏗️ 설계 개선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26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DIP 적용, SRP 개선, Interface 분리, Visitor Pattern 제안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action="ppaction://hlinksldjump" r:id="rId3"/>
                        </a:rPr>
                        <a:t>설계 개선 리뷰 확인 링크 🔗</a:t>
                      </a:r>
                      <a:r>
                        <a:rPr lang="ko-KR"/>
                        <a:t> 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♻️ 리팩토링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10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중복 제거, Factory Pattern 적용, Mock 코드 제거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action="ppaction://hlinksldjump" r:id="rId4"/>
                        </a:rPr>
                        <a:t>리팩토링 리뷰 확인 링크 🔗</a:t>
                      </a:r>
                      <a:r>
                        <a:rPr lang="ko-KR"/>
                        <a:t> 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🧪 </a:t>
                      </a:r>
                      <a:r>
                        <a:rPr lang="ko-KR"/>
                        <a:t>테스트 품질 향상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9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TDD(Red Test), 테스트 케이스 보강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action="ppaction://hlinksldjump" r:id="rId5"/>
                        </a:rPr>
                        <a:t>테스트 품질 향상 리뷰 확인 링크 🔗</a:t>
                      </a:r>
                      <a:r>
                        <a:rPr lang="ko-KR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⚠️ 오류 처리 개선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8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Exception 구조 개선, Error Type 정리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action="ppaction://hlinksldjump" r:id="rId6"/>
                        </a:rPr>
                        <a:t>오류 처리 개선 리뷰 확인 링크 🔗</a:t>
                      </a:r>
                      <a:r>
                        <a:rPr lang="ko-KR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🐞 버그 발견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7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Import Scope Bug, 컴파일 오류, 의존성 오류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action="ppaction://hlinksldjump" r:id="rId7"/>
                        </a:rPr>
                        <a:t>버그 발견 리뷰 확인 링크 🔗</a:t>
                      </a:r>
                      <a:r>
                        <a:rPr lang="ko-KR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📄 문서·가독성 개선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6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README 개선, 주석 정리, 코드 가독성 향상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120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action="ppaction://hlinksldjump" r:id="rId8"/>
                        </a:rPr>
                        <a:t>문서·가독성 개선 리뷰 확인 링크 🔗</a:t>
                      </a:r>
                      <a:r>
                        <a:rPr lang="ko-KR">
                          <a:solidFill>
                            <a:schemeClr val="dk1"/>
                          </a:solidFill>
                        </a:rPr>
                        <a:t> 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합계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66</a:t>
                      </a:r>
                      <a:endParaRPr/>
                    </a:p>
                  </a:txBody>
                  <a:tcPr marT="9000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ko-KR"/>
                        <a:t>실제 코드 품질 개선 리뷰</a:t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Code Review BP 사례 #2 SRP Refactoring</a:t>
            </a:r>
            <a:endParaRPr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605975" y="1316375"/>
            <a:ext cx="11345400" cy="528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ko-KR"/>
              <a:t>💬 Review </a:t>
            </a:r>
            <a:br>
              <a:rPr lang="ko-KR"/>
            </a:br>
            <a:r>
              <a:rPr lang="ko-KR"/>
              <a:t>      </a:t>
            </a:r>
            <a:r>
              <a:rPr lang="ko-KR"/>
              <a:t>│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ko-KR"/>
              <a:t>      │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ko-KR"/>
              <a:t>      │</a:t>
            </a:r>
            <a:br>
              <a:rPr lang="ko-KR"/>
            </a:br>
            <a:r>
              <a:rPr lang="ko-KR"/>
              <a:t>      </a:t>
            </a:r>
            <a:r>
              <a:rPr lang="ko-KR"/>
              <a:t>▼</a:t>
            </a:r>
            <a:br>
              <a:rPr lang="ko-KR"/>
            </a:br>
            <a:r>
              <a:rPr lang="ko-KR"/>
              <a:t>📝 TODO 기록</a:t>
            </a:r>
            <a:br>
              <a:rPr lang="ko-KR"/>
            </a:br>
            <a:r>
              <a:rPr lang="ko-KR"/>
              <a:t>      │             </a:t>
            </a:r>
            <a:r>
              <a:rPr lang="ko-KR" sz="1400"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lang="ko-KR" sz="15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TODO list에 대한 문서 공유 by DellaCelina · Pull Request #44 · DellaCelina/CodeFab · GitHub</a:t>
            </a:r>
            <a:r>
              <a:rPr lang="ko-KR" sz="1500"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ko-KR"/>
            </a:br>
            <a:r>
              <a:rPr lang="ko-KR"/>
              <a:t>      ▼             </a:t>
            </a:r>
            <a:br>
              <a:rPr lang="ko-KR"/>
            </a:br>
            <a:r>
              <a:rPr lang="ko-KR"/>
              <a:t>🚀 Refactoring  </a:t>
            </a:r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 rotWithShape="1">
          <a:blip r:embed="rId4">
            <a:alphaModFix/>
          </a:blip>
          <a:srcRect b="9050" l="0" r="0" t="0"/>
          <a:stretch/>
        </p:blipFill>
        <p:spPr>
          <a:xfrm>
            <a:off x="4331500" y="1323038"/>
            <a:ext cx="7237978" cy="2419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 rotWithShape="1">
          <a:blip r:embed="rId5">
            <a:alphaModFix/>
          </a:blip>
          <a:srcRect b="17632" l="3049" r="1966" t="18184"/>
          <a:stretch/>
        </p:blipFill>
        <p:spPr>
          <a:xfrm>
            <a:off x="3973650" y="4507500"/>
            <a:ext cx="7793901" cy="20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3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Refactoring BP 사례 #1 Visitor Patten 적용</a:t>
            </a:r>
            <a:endParaRPr/>
          </a:p>
        </p:txBody>
      </p:sp>
      <p:pic>
        <p:nvPicPr>
          <p:cNvPr id="227" name="Google Shape;227;p33"/>
          <p:cNvPicPr preferRelativeResize="0"/>
          <p:nvPr/>
        </p:nvPicPr>
        <p:blipFill rotWithShape="1">
          <a:blip r:embed="rId3">
            <a:alphaModFix/>
          </a:blip>
          <a:srcRect b="9568" l="0" r="0" t="0"/>
          <a:stretch/>
        </p:blipFill>
        <p:spPr>
          <a:xfrm>
            <a:off x="1488575" y="1112371"/>
            <a:ext cx="9214852" cy="555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7500"/>
              <a:buFont typeface="Malgun Gothic"/>
              <a:buNone/>
            </a:pPr>
            <a:r>
              <a:rPr b="1" lang="ko-KR" sz="3200"/>
              <a:t>TDD BP 사례 #1 Integration Test로 지킨 98% Quality Guard</a:t>
            </a:r>
            <a:endParaRPr/>
          </a:p>
        </p:txBody>
      </p:sp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605975" y="1316375"/>
            <a:ext cx="10960800" cy="52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ko-KR" sz="1900"/>
              <a:t>Integration Test로 커밋을 지키다 — Commit Guard의 협업형 TDD </a:t>
            </a:r>
            <a:r>
              <a:rPr lang="ko-KR" sz="1700"/>
              <a:t>(</a:t>
            </a:r>
            <a:r>
              <a:rPr lang="ko-KR" sz="1400"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lang="ko-KR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3"/>
              </a:rPr>
              <a:t>81158f2</a:t>
            </a:r>
            <a:r>
              <a:rPr lang="ko-K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r>
              <a:rPr lang="ko-KR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PR #42</a:t>
            </a:r>
            <a:r>
              <a:rPr lang="ko-KR" sz="1700"/>
              <a:t>)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sz="1700"/>
              <a:t> • </a:t>
            </a:r>
            <a:r>
              <a:rPr lang="ko-KR" sz="1700"/>
              <a:t>협업: 최소 3명이 하나의 통합 테스트 파일을 공동 자산으로 확장  (</a:t>
            </a:r>
            <a:r>
              <a:rPr lang="ko-KR" sz="1400"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lang="ko-KR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5"/>
              </a:rPr>
              <a:t>38dc726</a:t>
            </a:r>
            <a:r>
              <a:rPr lang="ko-KR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6"/>
              </a:rPr>
              <a:t>c41ab00</a:t>
            </a:r>
            <a:r>
              <a:rPr lang="ko-KR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7"/>
              </a:rPr>
              <a:t>3dee6bb</a:t>
            </a:r>
            <a:r>
              <a:rPr lang="ko-KR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8"/>
              </a:rPr>
              <a:t>828dd4e</a:t>
            </a:r>
            <a:r>
              <a:rPr lang="ko-KR" sz="1700"/>
              <a:t>)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sz="1700"/>
              <a:t> • 기술적 성과: Checker depth와 Executor 실행 스코프 불일치 버그를 실제로 발견 (</a:t>
            </a:r>
            <a:r>
              <a:rPr lang="ko-KR" sz="1400"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lang="ko-KR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9"/>
              </a:rPr>
              <a:t>1b99999</a:t>
            </a:r>
            <a:r>
              <a:rPr lang="ko-K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ko-K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PR #59</a:t>
            </a:r>
            <a:r>
              <a:rPr lang="ko-KR" sz="1700"/>
              <a:t>)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sz="1700"/>
              <a:t> • 전체 효과: 106개 테스트가 특정 모듈을 넘어 전체 파이프라인·리팩토링 Guard로 작동  (</a:t>
            </a:r>
            <a:r>
              <a:rPr lang="ko-KR" sz="1400"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lang="ko-KR" sz="1100" u="sng">
                <a:solidFill>
                  <a:schemeClr val="hlink"/>
                </a:solidFill>
                <a:latin typeface="Roboto Mono"/>
                <a:ea typeface="Roboto Mono"/>
                <a:cs typeface="Roboto Mono"/>
                <a:sym typeface="Roboto Mono"/>
                <a:hlinkClick r:id="rId11"/>
              </a:rPr>
              <a:t>592e6c5</a:t>
            </a:r>
            <a:r>
              <a:rPr lang="ko-KR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PR #62</a:t>
            </a:r>
            <a:r>
              <a:rPr lang="ko-KR" sz="1700"/>
              <a:t>)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ko-KR" sz="1900"/>
              <a:t>프로젝트 전 기간 Code Coverage 95%+ 유지 → 최종 98% 달성</a:t>
            </a:r>
            <a:endParaRPr b="1" sz="19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sz="1700"/>
              <a:t> • 지속적인 TDD 기반 테스트 관리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sz="1700"/>
              <a:t> • 잔여 2%는 측정 도구 아티팩트(실질 로직은 사실상 전량 검증)</a:t>
            </a:r>
            <a:endParaRPr sz="17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/>
              <a:t> • 기능 확장 시에도 높은 테스트 신뢰성 확보</a:t>
            </a:r>
            <a:endParaRPr b="1" sz="1900"/>
          </a:p>
          <a:p>
            <a:pPr indent="-50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000"/>
          </a:p>
        </p:txBody>
      </p:sp>
      <p:pic>
        <p:nvPicPr>
          <p:cNvPr id="234" name="Google Shape;234;p34"/>
          <p:cNvPicPr preferRelativeResize="0"/>
          <p:nvPr/>
        </p:nvPicPr>
        <p:blipFill rotWithShape="1">
          <a:blip r:embed="rId13">
            <a:alphaModFix/>
          </a:blip>
          <a:srcRect b="16554" l="0" r="0" t="20766"/>
          <a:stretch/>
        </p:blipFill>
        <p:spPr>
          <a:xfrm>
            <a:off x="605975" y="4167075"/>
            <a:ext cx="11341599" cy="2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AI 활용 BP 사례 #1 최적의 AI 협업 전략 </a:t>
            </a:r>
            <a:endParaRPr/>
          </a:p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605975" y="1316375"/>
            <a:ext cx="11278500" cy="4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ko-KR" sz="1800" u="sng"/>
              <a:t>“각자 코드를 빨리 짜는 방식”에서 “팀 전체가 같은 구조를 보고 빠르게 나눠 구현하는 방식”으로 전환</a:t>
            </a:r>
            <a:endParaRPr b="1" sz="1800"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1800" u="sng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sz="1400">
                <a:latin typeface="Arial"/>
                <a:ea typeface="Arial"/>
                <a:cs typeface="Arial"/>
                <a:sym typeface="Arial"/>
              </a:rPr>
              <a:t>🔗 </a:t>
            </a:r>
            <a:r>
              <a:rPr lang="ko-KR" sz="1700" u="sng">
                <a:solidFill>
                  <a:schemeClr val="hlink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  <a:hlinkClick r:id="rId3"/>
              </a:rPr>
              <a:t>Architecture 문서의 Interface 내용 구현 및 구현 요구사항 by DellaCelina · Pull Request #26 · DellaCelina/CodeFab</a:t>
            </a:r>
            <a:r>
              <a:rPr lang="ko-KR" sz="1700"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  </a:t>
            </a:r>
            <a:endParaRPr sz="1600"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&gt; 충돌을 줄이기 위한 공통 interface를 먼저 정의하고, 팀 전체가 동일한 구현 방향을 공유하기 위한 Implement.md를 추가한 PR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&gt; 팀과 AI가 같은 Repository Context를 기준으로 병렬 개발할 수 있도록 ‘협업 계약’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&gt; 추가기능을 개발하기 시작한 Day3 부터 도입. 구현 난이도와 구조적 복잡도가 높아졌음에도 개발 속도는 오히려 가속되었다.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35"/>
          <p:cNvPicPr preferRelativeResize="0"/>
          <p:nvPr/>
        </p:nvPicPr>
        <p:blipFill rotWithShape="1">
          <a:blip r:embed="rId4">
            <a:alphaModFix/>
          </a:blip>
          <a:srcRect b="13986" l="0" r="0" t="0"/>
          <a:stretch/>
        </p:blipFill>
        <p:spPr>
          <a:xfrm>
            <a:off x="605839" y="2981600"/>
            <a:ext cx="7480574" cy="362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35"/>
          <p:cNvPicPr preferRelativeResize="0"/>
          <p:nvPr/>
        </p:nvPicPr>
        <p:blipFill rotWithShape="1">
          <a:blip r:embed="rId5">
            <a:alphaModFix/>
          </a:blip>
          <a:srcRect b="4618" l="0" r="0" t="-431"/>
          <a:stretch/>
        </p:blipFill>
        <p:spPr>
          <a:xfrm>
            <a:off x="8072066" y="2944338"/>
            <a:ext cx="3472218" cy="369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프로젝트 회고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프로젝트 회고</a:t>
            </a:r>
            <a:endParaRPr/>
          </a:p>
        </p:txBody>
      </p:sp>
      <p:pic>
        <p:nvPicPr>
          <p:cNvPr id="253" name="Google Shape;253;p37" title="제목 없음2.png"/>
          <p:cNvPicPr preferRelativeResize="0"/>
          <p:nvPr/>
        </p:nvPicPr>
        <p:blipFill rotWithShape="1">
          <a:blip r:embed="rId3">
            <a:alphaModFix/>
          </a:blip>
          <a:srcRect b="6638" l="3169" r="3347" t="0"/>
          <a:stretch/>
        </p:blipFill>
        <p:spPr>
          <a:xfrm>
            <a:off x="857803" y="972650"/>
            <a:ext cx="10476394" cy="588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8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프로젝트 시연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시연 1 - 프롬프트 모드 정상 동작</a:t>
            </a:r>
            <a:endParaRPr/>
          </a:p>
        </p:txBody>
      </p:sp>
      <p:sp>
        <p:nvSpPr>
          <p:cNvPr id="264" name="Google Shape;264;p39"/>
          <p:cNvSpPr/>
          <p:nvPr/>
        </p:nvSpPr>
        <p:spPr>
          <a:xfrm>
            <a:off x="408975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import "demo_1_scenario10_import_module_lib.txt" alias mathlib;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print mathlib.add(3, 4);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print mathlib.mul(3, 4);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print mathlib.version;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Func useModule(x) {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    return mathlib.add(x, mathlib.version);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print useModule(10);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39"/>
          <p:cNvSpPr/>
          <p:nvPr/>
        </p:nvSpPr>
        <p:spPr>
          <a:xfrm>
            <a:off x="6389550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Func add(a, b) {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    return a + b;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Func mul(a, b) {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    return a * b;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600">
                <a:latin typeface="Malgun Gothic"/>
                <a:ea typeface="Malgun Gothic"/>
                <a:cs typeface="Malgun Gothic"/>
                <a:sym typeface="Malgun Gothic"/>
              </a:rPr>
              <a:t>var version = 1;</a:t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39"/>
          <p:cNvSpPr txBox="1"/>
          <p:nvPr/>
        </p:nvSpPr>
        <p:spPr>
          <a:xfrm>
            <a:off x="7054084" y="1113276"/>
            <a:ext cx="53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demo_1_scenario10_import_module_lib.txt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7" name="Google Shape;267;p39"/>
          <p:cNvSpPr txBox="1"/>
          <p:nvPr/>
        </p:nvSpPr>
        <p:spPr>
          <a:xfrm>
            <a:off x="2238386" y="1124593"/>
            <a:ext cx="53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demo_1_scenario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8" name="Google Shape;268;p39"/>
          <p:cNvSpPr txBox="1"/>
          <p:nvPr/>
        </p:nvSpPr>
        <p:spPr>
          <a:xfrm>
            <a:off x="2931075" y="2976350"/>
            <a:ext cx="6225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7</a:t>
            </a:r>
            <a:endParaRPr sz="1900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12</a:t>
            </a:r>
            <a:endParaRPr sz="1900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1</a:t>
            </a:r>
            <a:r>
              <a:rPr lang="ko-KR" sz="1800">
                <a:solidFill>
                  <a:srgbClr val="0000FF"/>
                </a:solidFill>
                <a:highlight>
                  <a:schemeClr val="lt1"/>
                </a:highlight>
              </a:rPr>
              <a:t> </a:t>
            </a:r>
            <a:endParaRPr sz="3500">
              <a:solidFill>
                <a:srgbClr val="0000FF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2937293" y="4747063"/>
            <a:ext cx="6225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11</a:t>
            </a:r>
            <a:r>
              <a:rPr lang="ko-KR" sz="1800">
                <a:solidFill>
                  <a:srgbClr val="0000FF"/>
                </a:solidFill>
                <a:highlight>
                  <a:schemeClr val="lt1"/>
                </a:highlight>
              </a:rPr>
              <a:t> </a:t>
            </a:r>
            <a:endParaRPr sz="3500">
              <a:solidFill>
                <a:srgbClr val="0000FF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0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시연 2 - 파일 모드 정상 동작</a:t>
            </a:r>
            <a:endParaRPr/>
          </a:p>
        </p:txBody>
      </p:sp>
      <p:sp>
        <p:nvSpPr>
          <p:cNvPr id="275" name="Google Shape;275;p40"/>
          <p:cNvSpPr/>
          <p:nvPr/>
        </p:nvSpPr>
        <p:spPr>
          <a:xfrm>
            <a:off x="408975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var ga = 100;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var a = 2;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var a = 7;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    print a;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    print ga;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print a;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p40"/>
          <p:cNvSpPr txBox="1"/>
          <p:nvPr/>
        </p:nvSpPr>
        <p:spPr>
          <a:xfrm>
            <a:off x="5327864" y="1130793"/>
            <a:ext cx="53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demo_2_scenario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7" name="Google Shape;277;p40"/>
          <p:cNvSpPr/>
          <p:nvPr/>
        </p:nvSpPr>
        <p:spPr>
          <a:xfrm>
            <a:off x="6423475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Func fact(n) {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if (n &lt;= 1) {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return 1;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}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return n * fact(n - 1);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</a:b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var i = 0;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var sum = 0;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for (i = 0; i &lt; 5; i = i + 1) 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sum = sum + i;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print fact(5);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print sum;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8" name="Google Shape;278;p40"/>
          <p:cNvSpPr txBox="1"/>
          <p:nvPr/>
        </p:nvSpPr>
        <p:spPr>
          <a:xfrm>
            <a:off x="2614200" y="3644050"/>
            <a:ext cx="6225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900">
                <a:solidFill>
                  <a:srgbClr val="0000FF"/>
                </a:solidFill>
                <a:highlight>
                  <a:srgbClr val="FFFFFF"/>
                </a:highlight>
              </a:rPr>
              <a:t>7</a:t>
            </a:r>
            <a:endParaRPr sz="190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rgbClr val="FFFFFF"/>
                </a:highlight>
              </a:rPr>
              <a:t>100</a:t>
            </a:r>
            <a:endParaRPr sz="3500">
              <a:solidFill>
                <a:srgbClr val="0000FF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9" name="Google Shape;279;p40"/>
          <p:cNvSpPr txBox="1"/>
          <p:nvPr/>
        </p:nvSpPr>
        <p:spPr>
          <a:xfrm>
            <a:off x="2614259" y="4441498"/>
            <a:ext cx="6225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rgbClr val="FFFFFF"/>
                </a:highlight>
              </a:rPr>
              <a:t>7</a:t>
            </a:r>
            <a:r>
              <a:rPr lang="ko-KR" sz="1800">
                <a:solidFill>
                  <a:srgbClr val="0000FF"/>
                </a:solidFill>
                <a:highlight>
                  <a:schemeClr val="lt1"/>
                </a:highlight>
              </a:rPr>
              <a:t> </a:t>
            </a:r>
            <a:endParaRPr sz="3500">
              <a:solidFill>
                <a:srgbClr val="0000FF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40"/>
          <p:cNvSpPr txBox="1"/>
          <p:nvPr/>
        </p:nvSpPr>
        <p:spPr>
          <a:xfrm>
            <a:off x="8289200" y="5038000"/>
            <a:ext cx="6225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rgbClr val="FFFFFF"/>
                </a:highlight>
              </a:rPr>
              <a:t>120</a:t>
            </a:r>
            <a:endParaRPr sz="190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rgbClr val="FFFFFF"/>
                </a:highlight>
              </a:rPr>
              <a:t>10</a:t>
            </a:r>
            <a:r>
              <a:rPr lang="ko-KR" sz="1900">
                <a:solidFill>
                  <a:srgbClr val="0000FF"/>
                </a:solidFill>
              </a:rPr>
              <a:t> </a:t>
            </a:r>
            <a:r>
              <a:rPr lang="ko-KR" sz="1800">
                <a:solidFill>
                  <a:srgbClr val="0000FF"/>
                </a:solidFill>
                <a:highlight>
                  <a:schemeClr val="lt1"/>
                </a:highlight>
              </a:rPr>
              <a:t> </a:t>
            </a:r>
            <a:endParaRPr sz="3500">
              <a:solidFill>
                <a:srgbClr val="0000FF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시연 3 - 디버그 모드 정상 동작</a:t>
            </a:r>
            <a:endParaRPr/>
          </a:p>
        </p:txBody>
      </p:sp>
      <p:sp>
        <p:nvSpPr>
          <p:cNvPr id="286" name="Google Shape;286;p41"/>
          <p:cNvSpPr/>
          <p:nvPr/>
        </p:nvSpPr>
        <p:spPr>
          <a:xfrm>
            <a:off x="408975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Class Robot 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init(name) 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This.name = name;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move(dist) 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print This.name;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print dist;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Class SpeedRobot : Robot 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move(dist) 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Super.move(dist);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    print "Speeeed!";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7" name="Google Shape;287;p41"/>
          <p:cNvSpPr txBox="1"/>
          <p:nvPr/>
        </p:nvSpPr>
        <p:spPr>
          <a:xfrm>
            <a:off x="5327864" y="1130793"/>
            <a:ext cx="53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demo_3_scenario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41"/>
          <p:cNvSpPr/>
          <p:nvPr/>
        </p:nvSpPr>
        <p:spPr>
          <a:xfrm>
            <a:off x="6423475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 normal = Robot("BasicBot");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normal.move(3);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 watch_test = 20;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 "break point!!";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 fast = SpeedRobot("FastBot");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fast.move(9);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{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var watch_test = 26;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 watch_test;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 watch_test;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7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print "last break point!!";</a:t>
            </a:r>
            <a:endParaRPr sz="17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Google Shape;289;p41"/>
          <p:cNvSpPr txBox="1"/>
          <p:nvPr/>
        </p:nvSpPr>
        <p:spPr>
          <a:xfrm>
            <a:off x="9955875" y="1980475"/>
            <a:ext cx="16212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BasicBot</a:t>
            </a:r>
            <a:endParaRPr sz="1900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3</a:t>
            </a:r>
            <a:endParaRPr sz="3500">
              <a:solidFill>
                <a:srgbClr val="0000FF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p41"/>
          <p:cNvSpPr/>
          <p:nvPr/>
        </p:nvSpPr>
        <p:spPr>
          <a:xfrm>
            <a:off x="6351375" y="2772616"/>
            <a:ext cx="364500" cy="32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p41"/>
          <p:cNvSpPr txBox="1"/>
          <p:nvPr/>
        </p:nvSpPr>
        <p:spPr>
          <a:xfrm>
            <a:off x="10035091" y="3307134"/>
            <a:ext cx="16212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FastBot</a:t>
            </a:r>
            <a:endParaRPr sz="1900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9</a:t>
            </a:r>
            <a:endParaRPr sz="1900">
              <a:solidFill>
                <a:srgbClr val="0000FF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Speeeed!</a:t>
            </a:r>
            <a:r>
              <a:rPr lang="ko-KR" sz="1100">
                <a:solidFill>
                  <a:schemeClr val="dk1"/>
                </a:solidFill>
              </a:rPr>
              <a:t> </a:t>
            </a:r>
            <a:endParaRPr sz="3500">
              <a:solidFill>
                <a:srgbClr val="0000FF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41"/>
          <p:cNvSpPr/>
          <p:nvPr/>
        </p:nvSpPr>
        <p:spPr>
          <a:xfrm>
            <a:off x="6351375" y="4365066"/>
            <a:ext cx="364500" cy="32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3" name="Google Shape;293;p41"/>
          <p:cNvSpPr/>
          <p:nvPr/>
        </p:nvSpPr>
        <p:spPr>
          <a:xfrm>
            <a:off x="6351375" y="5139891"/>
            <a:ext cx="364500" cy="32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4" name="Google Shape;294;p41"/>
          <p:cNvSpPr/>
          <p:nvPr/>
        </p:nvSpPr>
        <p:spPr>
          <a:xfrm>
            <a:off x="11543128" y="1092697"/>
            <a:ext cx="364500" cy="32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0000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5" name="Google Shape;295;p41"/>
          <p:cNvSpPr txBox="1"/>
          <p:nvPr/>
        </p:nvSpPr>
        <p:spPr>
          <a:xfrm>
            <a:off x="10751000" y="1006975"/>
            <a:ext cx="1369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9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break</a:t>
            </a:r>
            <a:endParaRPr b="1" sz="19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2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시연 4 - 프롬프트 모드 예외 상황</a:t>
            </a:r>
            <a:endParaRPr/>
          </a:p>
        </p:txBody>
      </p:sp>
      <p:sp>
        <p:nvSpPr>
          <p:cNvPr id="301" name="Google Shape;301;p42"/>
          <p:cNvSpPr/>
          <p:nvPr/>
        </p:nvSpPr>
        <p:spPr>
          <a:xfrm>
            <a:off x="408975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var arr = Array(3);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arr[0] = 1;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arr[1] = 2;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arr[2] = 3;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print arr[3];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2" name="Google Shape;302;p42"/>
          <p:cNvSpPr txBox="1"/>
          <p:nvPr/>
        </p:nvSpPr>
        <p:spPr>
          <a:xfrm>
            <a:off x="5327864" y="1130793"/>
            <a:ext cx="53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demo_4_scenario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p42"/>
          <p:cNvSpPr/>
          <p:nvPr/>
        </p:nvSpPr>
        <p:spPr>
          <a:xfrm>
            <a:off x="6423475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42"/>
          <p:cNvSpPr txBox="1"/>
          <p:nvPr/>
        </p:nvSpPr>
        <p:spPr>
          <a:xfrm>
            <a:off x="690975" y="5283200"/>
            <a:ext cx="4888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FF0000"/>
                </a:solidFill>
                <a:highlight>
                  <a:schemeClr val="lt1"/>
                </a:highlight>
              </a:rPr>
              <a:t>[line1] array index out of bounds.</a:t>
            </a:r>
            <a:endParaRPr sz="3500">
              <a:solidFill>
                <a:srgbClr val="FF0000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3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/>
              <a:t>시연 5 - 파일 모드 예외 상황</a:t>
            </a:r>
            <a:endParaRPr/>
          </a:p>
        </p:txBody>
      </p:sp>
      <p:sp>
        <p:nvSpPr>
          <p:cNvPr id="310" name="Google Shape;310;p43"/>
          <p:cNvSpPr/>
          <p:nvPr/>
        </p:nvSpPr>
        <p:spPr>
          <a:xfrm>
            <a:off x="408975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Func add(a, b) {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    return a + b;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}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print "start";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var result = add(1);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700">
                <a:latin typeface="Malgun Gothic"/>
                <a:ea typeface="Malgun Gothic"/>
                <a:cs typeface="Malgun Gothic"/>
                <a:sym typeface="Malgun Gothic"/>
              </a:rPr>
              <a:t>print result;</a:t>
            </a:r>
            <a:endParaRPr sz="17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1" name="Google Shape;311;p43"/>
          <p:cNvSpPr txBox="1"/>
          <p:nvPr/>
        </p:nvSpPr>
        <p:spPr>
          <a:xfrm>
            <a:off x="5327864" y="1130793"/>
            <a:ext cx="531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demo_5_scenario</a:t>
            </a:r>
            <a:endParaRPr b="1" sz="2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2" name="Google Shape;312;p43"/>
          <p:cNvSpPr/>
          <p:nvPr/>
        </p:nvSpPr>
        <p:spPr>
          <a:xfrm>
            <a:off x="6423475" y="1531000"/>
            <a:ext cx="5452800" cy="48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3" name="Google Shape;313;p43"/>
          <p:cNvSpPr txBox="1"/>
          <p:nvPr/>
        </p:nvSpPr>
        <p:spPr>
          <a:xfrm>
            <a:off x="690500" y="5348675"/>
            <a:ext cx="5452800" cy="8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FF0000"/>
                </a:solidFill>
                <a:highlight>
                  <a:schemeClr val="lt1"/>
                </a:highlight>
              </a:rPr>
              <a:t>[line1] ‘add’ expects 2 argument(s) but got 1.</a:t>
            </a:r>
            <a:endParaRPr sz="19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314" name="Google Shape;314;p43"/>
          <p:cNvSpPr txBox="1"/>
          <p:nvPr/>
        </p:nvSpPr>
        <p:spPr>
          <a:xfrm>
            <a:off x="2979875" y="3528975"/>
            <a:ext cx="54528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900">
                <a:solidFill>
                  <a:srgbClr val="0000FF"/>
                </a:solidFill>
                <a:highlight>
                  <a:schemeClr val="lt1"/>
                </a:highlight>
              </a:rPr>
              <a:t>start</a:t>
            </a:r>
            <a:endParaRPr sz="19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4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감사합니다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5"/>
          <p:cNvSpPr txBox="1"/>
          <p:nvPr>
            <p:ph idx="1" type="body"/>
          </p:nvPr>
        </p:nvSpPr>
        <p:spPr>
          <a:xfrm>
            <a:off x="1632000" y="1860184"/>
            <a:ext cx="8928000" cy="253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참고 자료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6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설계 개선 (Review 26건 · 관련 PR 12개)</a:t>
            </a:r>
            <a:endParaRPr/>
          </a:p>
        </p:txBody>
      </p:sp>
      <p:graphicFrame>
        <p:nvGraphicFramePr>
          <p:cNvPr id="330" name="Google Shape;330;p46"/>
          <p:cNvGraphicFramePr/>
          <p:nvPr/>
        </p:nvGraphicFramePr>
        <p:xfrm>
          <a:off x="838200" y="122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{F0438FC3-C0AE-413A-B48B-52F2E4018F06}</a:tableStyleId>
              </a:tblPr>
              <a:tblGrid>
                <a:gridCol w="1617900"/>
                <a:gridCol w="8897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관련 PR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Review Summary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3"/>
                        </a:rPr>
                        <a:t>PR #4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AST 구조 및 클래스 책임 분리 관련 설계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5"/>
                        </a:rPr>
                        <a:t>PR #5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API 인터페이스 및 객체 생성 구조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7"/>
                        </a:rPr>
                        <a:t>PR #6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8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Factory Pattern 적용, API 개선 및 모듈 간 의존성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9"/>
                        </a:rPr>
                        <a:t>PR #8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0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API 사용성 및 인터페이스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1"/>
                        </a:rPr>
                        <a:t>PR #17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2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Checker 예외 타입 독립성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3"/>
                        </a:rPr>
                        <a:t>PR #20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모듈 간 인터페이스 설계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5"/>
                        </a:rPr>
                        <a:t>PR #24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DIP 적용 및 ExecutorInterface 기반 구조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7"/>
                        </a:rPr>
                        <a:t>PR #44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8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Constant Folding을 Optimizer로 분리(SRP)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9"/>
                        </a:rPr>
                        <a:t>PR #45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20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Optimizer 구조 개선 및 역할 명확화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21"/>
                        </a:rPr>
                        <a:t>PR #50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22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Debug Mode 커맨드 분기 구조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23"/>
                        </a:rPr>
                        <a:t>PR #51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2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Visitor Pattern 적용 및 API 확장성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25"/>
                        </a:rPr>
                        <a:t>PR #63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2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최종 구조 개선 및 인터페이스 정리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7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리팩토링</a:t>
            </a:r>
            <a:r>
              <a:rPr b="1" lang="ko-KR" sz="3200"/>
              <a:t> (Review 10건 · 관련 PR 5개)</a:t>
            </a:r>
            <a:endParaRPr/>
          </a:p>
        </p:txBody>
      </p:sp>
      <p:graphicFrame>
        <p:nvGraphicFramePr>
          <p:cNvPr id="336" name="Google Shape;336;p47"/>
          <p:cNvGraphicFramePr/>
          <p:nvPr/>
        </p:nvGraphicFramePr>
        <p:xfrm>
          <a:off x="832775" y="12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{F0438FC3-C0AE-413A-B48B-52F2E4018F06}</a:tableStyleId>
              </a:tblPr>
              <a:tblGrid>
                <a:gridCol w="1629850"/>
                <a:gridCol w="88857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관련 PR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Review Summary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3"/>
                        </a:rPr>
                        <a:t>PR #4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임시 모듈 연동 구조 정리 및 재작업 필요성 논의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5"/>
                        </a:rPr>
                        <a:t>PR #6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Factory Method 기반 리팩토링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7"/>
                        </a:rPr>
                        <a:t>PR #8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8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Mock 객체 제거 및 코드 정리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9"/>
                        </a:rPr>
                        <a:t>PR #17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0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Checker 코드 리팩토링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1"/>
                        </a:rPr>
                        <a:t>PR #36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2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반복 코드 및 조건문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8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테스트 품질 향상 (Review 9건 / PR 7개)</a:t>
            </a:r>
            <a:endParaRPr/>
          </a:p>
        </p:txBody>
      </p:sp>
      <p:graphicFrame>
        <p:nvGraphicFramePr>
          <p:cNvPr id="342" name="Google Shape;342;p48"/>
          <p:cNvGraphicFramePr/>
          <p:nvPr/>
        </p:nvGraphicFramePr>
        <p:xfrm>
          <a:off x="832775" y="12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{F0438FC3-C0AE-413A-B48B-52F2E4018F06}</a:tableStyleId>
              </a:tblPr>
              <a:tblGrid>
                <a:gridCol w="1629850"/>
                <a:gridCol w="88857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관련 PR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Review Summary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3"/>
                        </a:rPr>
                        <a:t>PR #4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테스트 코드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5"/>
                        </a:rPr>
                        <a:t>PR #6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테스트 케이스 보완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7"/>
                        </a:rPr>
                        <a:t>PR #28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8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Red Test First(TDD) 리뷰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9"/>
                        </a:rPr>
                        <a:t>PR #34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0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테스트 시나리오 추가 제안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1"/>
                        </a:rPr>
                        <a:t>PR #44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2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Integration Test 파일 모드 줄바꿈 처리 보강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3"/>
                        </a:rPr>
                        <a:t>PR #47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테스트 검증 강화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5"/>
                        </a:rPr>
                        <a:t>PR #59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변경 사항에 맞춘 테스트 수정 확인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9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오류 처리 개선 (Review 8건 / PR 7개)</a:t>
            </a:r>
            <a:endParaRPr/>
          </a:p>
        </p:txBody>
      </p:sp>
      <p:graphicFrame>
        <p:nvGraphicFramePr>
          <p:cNvPr id="348" name="Google Shape;348;p49"/>
          <p:cNvGraphicFramePr/>
          <p:nvPr/>
        </p:nvGraphicFramePr>
        <p:xfrm>
          <a:off x="838200" y="12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{F0438FC3-C0AE-413A-B48B-52F2E4018F06}</a:tableStyleId>
              </a:tblPr>
              <a:tblGrid>
                <a:gridCol w="1617900"/>
                <a:gridCol w="8897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관련 PR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Review Summary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3"/>
                        </a:rPr>
                        <a:t>PR #4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예외 처리 방식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5"/>
                        </a:rPr>
                        <a:t>PR #6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Error Handling 구조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7"/>
                        </a:rPr>
                        <a:t>PR #8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8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오류 처리 코드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9"/>
                        </a:rPr>
                        <a:t>PR #17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0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Checker 오류처리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1"/>
                        </a:rPr>
                        <a:t>PR #18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2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Executor Error Type 도입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3"/>
                        </a:rPr>
                        <a:t>PR #33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Error Class 분리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5"/>
                        </a:rPr>
                        <a:t>PR #54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ExecutorError 활용 및 예외 처리 논의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버그 발견 (Review 7건 / PR 4개)</a:t>
            </a:r>
            <a:endParaRPr/>
          </a:p>
        </p:txBody>
      </p:sp>
      <p:graphicFrame>
        <p:nvGraphicFramePr>
          <p:cNvPr id="354" name="Google Shape;354;p50"/>
          <p:cNvGraphicFramePr/>
          <p:nvPr/>
        </p:nvGraphicFramePr>
        <p:xfrm>
          <a:off x="838200" y="12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{F0438FC3-C0AE-413A-B48B-52F2E4018F06}</a:tableStyleId>
              </a:tblPr>
              <a:tblGrid>
                <a:gridCol w="1617900"/>
                <a:gridCol w="8897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관련 PR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Review Summary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3"/>
                        </a:rPr>
                        <a:t>PR #8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솔루션 프로젝트 설정 변경 시 빌드 오류 위험 경고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5"/>
                        </a:rPr>
                        <a:t>PR #10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컴파일 오류 및 구현 버그 발견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7"/>
                        </a:rPr>
                        <a:t>PR #36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8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Import Scope Bug 발견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9"/>
                        </a:rPr>
                        <a:t>PR #59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0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Return Type 불일치 버그 발견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문서·가독성 개선 (Review 6건 / PR 5개)</a:t>
            </a:r>
            <a:endParaRPr/>
          </a:p>
        </p:txBody>
      </p:sp>
      <p:graphicFrame>
        <p:nvGraphicFramePr>
          <p:cNvPr id="360" name="Google Shape;360;p51"/>
          <p:cNvGraphicFramePr/>
          <p:nvPr/>
        </p:nvGraphicFramePr>
        <p:xfrm>
          <a:off x="838200" y="122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{F0438FC3-C0AE-413A-B48B-52F2E4018F06}</a:tableStyleId>
              </a:tblPr>
              <a:tblGrid>
                <a:gridCol w="1617900"/>
                <a:gridCol w="88977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관련 PR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100"/>
                        <a:t>Review Summary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3"/>
                        </a:rPr>
                        <a:t>PR #15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4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TODO 주석 정리 요청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5"/>
                        </a:rPr>
                        <a:t>PR #17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6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코드 문법 설명 보완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7"/>
                        </a:rPr>
                        <a:t>PR #31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8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TODO 및 주석 정리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9"/>
                        </a:rPr>
                        <a:t>PR #34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0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테스트 코드 가독성 개선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u="sng">
                          <a:solidFill>
                            <a:schemeClr val="hlink"/>
                          </a:solidFill>
                          <a:hlinkClick r:id="rId11"/>
                        </a:rPr>
                        <a:t>PR #49 </a:t>
                      </a:r>
                      <a:r>
                        <a:rPr lang="ko-KR" u="sng">
                          <a:solidFill>
                            <a:schemeClr val="hlink"/>
                          </a:solidFill>
                          <a:hlinkClick r:id="rId12"/>
                        </a:rPr>
                        <a:t>🔗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63500" rtl="0" algn="l"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/>
                        <a:t>Executor README 및 문서 보강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2"/>
          <p:cNvSpPr txBox="1"/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200"/>
              <a:t>Architecture document</a:t>
            </a:r>
            <a:endParaRPr/>
          </a:p>
        </p:txBody>
      </p:sp>
      <p:sp>
        <p:nvSpPr>
          <p:cNvPr id="366" name="Google Shape;366;p52"/>
          <p:cNvSpPr txBox="1"/>
          <p:nvPr/>
        </p:nvSpPr>
        <p:spPr>
          <a:xfrm>
            <a:off x="439125" y="1281850"/>
            <a:ext cx="10332300" cy="21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Draw.io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u="sng">
                <a:solidFill>
                  <a:schemeClr val="hlink"/>
                </a:solidFill>
                <a:hlinkClick r:id="rId3"/>
              </a:rPr>
              <a:t>CodeFab/CodeFab/architecture.drawio at master · DellaCelina/CodeFab</a:t>
            </a:r>
            <a:r>
              <a:rPr lang="ko-KR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